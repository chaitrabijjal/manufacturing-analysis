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1" r:id="rId2"/>
    <p:sldId id="260" r:id="rId3"/>
    <p:sldId id="265" r:id="rId4"/>
    <p:sldId id="269" r:id="rId5"/>
    <p:sldId id="270" r:id="rId6"/>
    <p:sldId id="266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1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14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95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17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644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80886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196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92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311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81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81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16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D7DDD-8CCB-48F5-A21A-B51DD4B02BB2}" type="datetimeFigureOut">
              <a:rPr lang="en-IN" smtClean="0"/>
              <a:t>13-10-2025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4ED7C2B-2E5B-48FE-A328-DD1B93F851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57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E0AF5-099C-46BB-EC52-845441B5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B6A903-DC79-56FD-74D6-C5999750AE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 b="26604"/>
          <a:stretch/>
        </p:blipFill>
        <p:spPr>
          <a:xfrm>
            <a:off x="10142670" y="6265551"/>
            <a:ext cx="1824364" cy="50223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1D85500-6FAC-58E6-893A-02B82FC3D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83204"/>
            <a:ext cx="8637073" cy="2541431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b="1" dirty="0"/>
              <a:t>MANUFACTURING ANALYTICS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308493B-8503-EF0F-98F0-18E54EF1F7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Project Kick-off meeting</a:t>
            </a:r>
          </a:p>
        </p:txBody>
      </p:sp>
      <p:pic>
        <p:nvPicPr>
          <p:cNvPr id="4" name="Graphic 3" descr="Factory with solid fill">
            <a:extLst>
              <a:ext uri="{FF2B5EF4-FFF2-40B4-BE49-F238E27FC236}">
                <a16:creationId xmlns:a16="http://schemas.microsoft.com/office/drawing/2014/main" id="{161E86D8-E5E5-0E2D-46DC-5DB603CFF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6932" y="2248560"/>
            <a:ext cx="1168028" cy="8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2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EB84DE8-130A-427A-AFDF-7DF5100B0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542757"/>
              </p:ext>
            </p:extLst>
          </p:nvPr>
        </p:nvGraphicFramePr>
        <p:xfrm>
          <a:off x="1465877" y="2287195"/>
          <a:ext cx="9496762" cy="3138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963">
                  <a:extLst>
                    <a:ext uri="{9D8B030D-6E8A-4147-A177-3AD203B41FA5}">
                      <a16:colId xmlns:a16="http://schemas.microsoft.com/office/drawing/2014/main" val="955707283"/>
                    </a:ext>
                  </a:extLst>
                </a:gridCol>
                <a:gridCol w="2035695">
                  <a:extLst>
                    <a:ext uri="{9D8B030D-6E8A-4147-A177-3AD203B41FA5}">
                      <a16:colId xmlns:a16="http://schemas.microsoft.com/office/drawing/2014/main" val="1650167457"/>
                    </a:ext>
                  </a:extLst>
                </a:gridCol>
                <a:gridCol w="5127104">
                  <a:extLst>
                    <a:ext uri="{9D8B030D-6E8A-4147-A177-3AD203B41FA5}">
                      <a16:colId xmlns:a16="http://schemas.microsoft.com/office/drawing/2014/main" val="915409932"/>
                    </a:ext>
                  </a:extLst>
                </a:gridCol>
              </a:tblGrid>
              <a:tr h="49805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j-lt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j-lt"/>
                        </a:rPr>
                        <a:t>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+mj-lt"/>
                        </a:rPr>
                        <a:t>Task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652821"/>
                  </a:ext>
                </a:extLst>
              </a:tr>
              <a:tr h="5280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14-Oct-2025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11am – 12pm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Project Kick-off 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095682"/>
                  </a:ext>
                </a:extLst>
              </a:tr>
              <a:tr h="5280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21-Oct-2025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10am – 11am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Implementation of KPI’s using Excel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198207"/>
                  </a:ext>
                </a:extLst>
              </a:tr>
              <a:tr h="5280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28-Oct-2025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10am – 11am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Implementation of KPI’s using Tableau &amp; 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516821"/>
                  </a:ext>
                </a:extLst>
              </a:tr>
              <a:tr h="5280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04-Nov-2025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10am – 11am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Implementation of KPI’s using Power BI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074799"/>
                  </a:ext>
                </a:extLst>
              </a:tr>
              <a:tr h="5280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11-Nov-2025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</a:pPr>
                      <a:r>
                        <a:rPr lang="en-IN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10am – 11am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</a:pPr>
                      <a:r>
                        <a:rPr lang="en-IN" sz="2000" b="0" dirty="0">
                          <a:solidFill>
                            <a:schemeClr val="tx1"/>
                          </a:solidFill>
                          <a:latin typeface="+mj-lt"/>
                        </a:rPr>
                        <a:t>Final Presentation of the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454813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3634B5E-D67D-4D2E-8864-3ACF0DEEB698}"/>
              </a:ext>
            </a:extLst>
          </p:cNvPr>
          <p:cNvSpPr/>
          <p:nvPr/>
        </p:nvSpPr>
        <p:spPr>
          <a:xfrm>
            <a:off x="2479040" y="863600"/>
            <a:ext cx="7233920" cy="5791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150000"/>
              </a:lnSpc>
            </a:pPr>
            <a:r>
              <a:rPr lang="en-IN" sz="3200" b="1" dirty="0"/>
              <a:t>REVIEW MEETING TIMELINES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5E2906-DD08-349E-8CB4-A26A933BE6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 b="26604"/>
          <a:stretch/>
        </p:blipFill>
        <p:spPr>
          <a:xfrm>
            <a:off x="10207687" y="6315429"/>
            <a:ext cx="1824364" cy="50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8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86532-DCAC-E375-6E68-16950A77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7A73D4-B14F-B1AB-A564-ED30B5AE32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 b="26604"/>
          <a:stretch/>
        </p:blipFill>
        <p:spPr>
          <a:xfrm>
            <a:off x="10207687" y="6315429"/>
            <a:ext cx="1824364" cy="5022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94AE629-A211-2BC5-987B-A93B0D5745ED}"/>
              </a:ext>
            </a:extLst>
          </p:cNvPr>
          <p:cNvSpPr/>
          <p:nvPr/>
        </p:nvSpPr>
        <p:spPr>
          <a:xfrm>
            <a:off x="2783840" y="121920"/>
            <a:ext cx="6624320" cy="5283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150000"/>
              </a:lnSpc>
            </a:pPr>
            <a:r>
              <a:rPr lang="en-IN" sz="2800" b="1" dirty="0"/>
              <a:t>ABOUT THE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05BD8D-4EFE-C18A-1C75-6E99D42BDA29}"/>
              </a:ext>
            </a:extLst>
          </p:cNvPr>
          <p:cNvSpPr txBox="1"/>
          <p:nvPr/>
        </p:nvSpPr>
        <p:spPr>
          <a:xfrm>
            <a:off x="1201491" y="6801043"/>
            <a:ext cx="10830560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BDCD1C0-EAD2-EEEC-E0A9-9AC20E33D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038" y="1026601"/>
            <a:ext cx="8379923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dataset represents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 manufacturing analytics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 garment or textile production network involving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buyers (brands)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 units (customers/vendors)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factory employees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record corresponds to a specific production activity — detailing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buyer placing the order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manufacturer executing 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responsible for the production task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data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quantities processed, produced, and rejected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along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usage, operation types, and per-day machine cost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offer detailed insights into daily manufacturing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05904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00C20-7401-A14A-5ACD-8A3A2610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A24120-ED35-C481-F636-02209A625A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 b="26604"/>
          <a:stretch/>
        </p:blipFill>
        <p:spPr>
          <a:xfrm>
            <a:off x="10207687" y="6315429"/>
            <a:ext cx="1824364" cy="5022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3AD2D57-3E1C-651B-6CB0-7B3AE93933A1}"/>
              </a:ext>
            </a:extLst>
          </p:cNvPr>
          <p:cNvSpPr/>
          <p:nvPr/>
        </p:nvSpPr>
        <p:spPr>
          <a:xfrm>
            <a:off x="2783840" y="121920"/>
            <a:ext cx="6624320" cy="5283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150000"/>
              </a:lnSpc>
            </a:pPr>
            <a:r>
              <a:rPr lang="en-US" sz="2800" b="1" dirty="0"/>
              <a:t>P</a:t>
            </a:r>
            <a:r>
              <a:rPr lang="en-IN" sz="2800" b="1" dirty="0"/>
              <a:t>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97BA2-C5EF-11C6-67F5-8CA24833CCF1}"/>
              </a:ext>
            </a:extLst>
          </p:cNvPr>
          <p:cNvSpPr txBox="1"/>
          <p:nvPr/>
        </p:nvSpPr>
        <p:spPr>
          <a:xfrm>
            <a:off x="1201491" y="6801043"/>
            <a:ext cx="10830560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EE2E61-339E-68AF-A5B9-84D56116534D}"/>
              </a:ext>
            </a:extLst>
          </p:cNvPr>
          <p:cNvSpPr txBox="1"/>
          <p:nvPr/>
        </p:nvSpPr>
        <p:spPr>
          <a:xfrm>
            <a:off x="798829" y="1020830"/>
            <a:ext cx="10830560" cy="4438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Arial" panose="020B0604020202020204" pitchFamily="34" charset="0"/>
              </a:rPr>
              <a:t>As a data analyst, your job is to analyze, visualize, and optimize the manufacturing performance across different stakeholders. You are expected to:</a:t>
            </a:r>
          </a:p>
          <a:p>
            <a:pPr marL="285750" indent="-285750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</a:rPr>
              <a:t>Track </a:t>
            </a:r>
            <a:r>
              <a:rPr lang="en-US" b="1" dirty="0">
                <a:latin typeface="Arial" panose="020B0604020202020204" pitchFamily="34" charset="0"/>
              </a:rPr>
              <a:t>order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fulfillment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performance</a:t>
            </a:r>
            <a:r>
              <a:rPr lang="en-US" dirty="0">
                <a:latin typeface="Arial" panose="020B0604020202020204" pitchFamily="34" charset="0"/>
              </a:rPr>
              <a:t> by </a:t>
            </a:r>
            <a:r>
              <a:rPr lang="en-US" b="1" dirty="0">
                <a:latin typeface="Arial" panose="020B0604020202020204" pitchFamily="34" charset="0"/>
              </a:rPr>
              <a:t>buyer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</a:rPr>
              <a:t>customer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</a:rPr>
              <a:t>department</a:t>
            </a:r>
            <a:r>
              <a:rPr lang="en-US" dirty="0">
                <a:latin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</a:rPr>
              <a:t>designer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</a:rPr>
              <a:t>Measure </a:t>
            </a:r>
            <a:r>
              <a:rPr lang="en-US" b="1" dirty="0">
                <a:latin typeface="Arial" panose="020B0604020202020204" pitchFamily="34" charset="0"/>
              </a:rPr>
              <a:t>employee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productivity</a:t>
            </a:r>
            <a:r>
              <a:rPr lang="en-US" dirty="0">
                <a:latin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</a:rPr>
              <a:t>rejection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ratios</a:t>
            </a:r>
            <a:r>
              <a:rPr lang="en-US" dirty="0">
                <a:latin typeface="Arial" panose="020B0604020202020204" pitchFamily="34" charset="0"/>
              </a:rPr>
              <a:t> to identify training needs or process gaps.</a:t>
            </a:r>
          </a:p>
          <a:p>
            <a:pPr marL="285750" indent="-285750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</a:rPr>
              <a:t>Compare </a:t>
            </a:r>
            <a:r>
              <a:rPr lang="en-US" b="1" dirty="0">
                <a:latin typeface="Arial" panose="020B0604020202020204" pitchFamily="34" charset="0"/>
              </a:rPr>
              <a:t>machine</a:t>
            </a:r>
            <a:r>
              <a:rPr lang="en-US" dirty="0">
                <a:latin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</a:rPr>
              <a:t>operation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performance</a:t>
            </a:r>
            <a:r>
              <a:rPr lang="en-US" dirty="0">
                <a:latin typeface="Arial" panose="020B0604020202020204" pitchFamily="34" charset="0"/>
              </a:rPr>
              <a:t>, highlighting </a:t>
            </a:r>
            <a:r>
              <a:rPr lang="en-US" b="1" dirty="0">
                <a:latin typeface="Arial" panose="020B0604020202020204" pitchFamily="34" charset="0"/>
              </a:rPr>
              <a:t>high-cost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operations</a:t>
            </a:r>
            <a:r>
              <a:rPr lang="en-US" dirty="0">
                <a:latin typeface="Arial" panose="020B0604020202020204" pitchFamily="34" charset="0"/>
              </a:rPr>
              <a:t> or bottlenecks.</a:t>
            </a:r>
          </a:p>
          <a:p>
            <a:pPr marL="285750" indent="-285750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</a:rPr>
              <a:t>Monitor </a:t>
            </a:r>
            <a:r>
              <a:rPr lang="en-US" b="1" dirty="0">
                <a:latin typeface="Arial" panose="020B0604020202020204" pitchFamily="34" charset="0"/>
              </a:rPr>
              <a:t>repeat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orders</a:t>
            </a:r>
            <a:r>
              <a:rPr lang="en-US" dirty="0">
                <a:latin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</a:rPr>
              <a:t>analyze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trends</a:t>
            </a:r>
            <a:r>
              <a:rPr lang="en-US" dirty="0">
                <a:latin typeface="Arial" panose="020B0604020202020204" pitchFamily="34" charset="0"/>
              </a:rPr>
              <a:t> in </a:t>
            </a:r>
            <a:r>
              <a:rPr lang="en-US" b="1" dirty="0">
                <a:latin typeface="Arial" panose="020B0604020202020204" pitchFamily="34" charset="0"/>
              </a:rPr>
              <a:t>buyer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demand</a:t>
            </a:r>
            <a:r>
              <a:rPr lang="en-US" dirty="0">
                <a:latin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</a:rPr>
              <a:t>production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efficiency</a:t>
            </a:r>
            <a:r>
              <a:rPr lang="en-US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200000"/>
              </a:lnSpc>
              <a:buSzPct val="85000"/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</a:rPr>
              <a:t>Create </a:t>
            </a:r>
            <a:r>
              <a:rPr lang="en-US" b="1" dirty="0">
                <a:latin typeface="Arial" panose="020B0604020202020204" pitchFamily="34" charset="0"/>
              </a:rPr>
              <a:t>interactive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dashboards</a:t>
            </a:r>
            <a:r>
              <a:rPr lang="en-US" dirty="0">
                <a:latin typeface="Arial" panose="020B0604020202020204" pitchFamily="34" charset="0"/>
              </a:rPr>
              <a:t> showing key </a:t>
            </a:r>
            <a:r>
              <a:rPr lang="en-US" b="1" dirty="0">
                <a:latin typeface="Arial" panose="020B0604020202020204" pitchFamily="34" charset="0"/>
              </a:rPr>
              <a:t>KPIs</a:t>
            </a:r>
            <a:r>
              <a:rPr lang="en-US" dirty="0">
                <a:latin typeface="Arial" panose="020B0604020202020204" pitchFamily="34" charset="0"/>
              </a:rPr>
              <a:t> like </a:t>
            </a:r>
            <a:r>
              <a:rPr lang="en-US" b="1" dirty="0">
                <a:latin typeface="Arial" panose="020B0604020202020204" pitchFamily="34" charset="0"/>
              </a:rPr>
              <a:t>total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produced</a:t>
            </a:r>
            <a:r>
              <a:rPr lang="en-US" dirty="0">
                <a:latin typeface="Arial" panose="020B0604020202020204" pitchFamily="34" charset="0"/>
              </a:rPr>
              <a:t> vs. </a:t>
            </a:r>
            <a:r>
              <a:rPr lang="en-US" b="1" dirty="0">
                <a:latin typeface="Arial" panose="020B0604020202020204" pitchFamily="34" charset="0"/>
              </a:rPr>
              <a:t>rejected</a:t>
            </a:r>
            <a:r>
              <a:rPr lang="en-US" dirty="0">
                <a:latin typeface="Arial" panose="020B0604020202020204" pitchFamily="34" charset="0"/>
              </a:rPr>
              <a:t>, cost per </a:t>
            </a:r>
            <a:r>
              <a:rPr lang="en-US" b="1" dirty="0">
                <a:latin typeface="Arial" panose="020B0604020202020204" pitchFamily="34" charset="0"/>
              </a:rPr>
              <a:t>operation</a:t>
            </a:r>
            <a:r>
              <a:rPr lang="en-US" dirty="0">
                <a:latin typeface="Arial" panose="020B0604020202020204" pitchFamily="34" charset="0"/>
              </a:rPr>
              <a:t>, </a:t>
            </a:r>
            <a:r>
              <a:rPr lang="en-US" b="1" dirty="0">
                <a:latin typeface="Arial" panose="020B0604020202020204" pitchFamily="34" charset="0"/>
              </a:rPr>
              <a:t>customer-wise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profit</a:t>
            </a:r>
            <a:r>
              <a:rPr lang="en-US" dirty="0">
                <a:latin typeface="Arial" panose="020B0604020202020204" pitchFamily="34" charset="0"/>
              </a:rPr>
              <a:t>/</a:t>
            </a:r>
            <a:r>
              <a:rPr lang="en-US" b="1" dirty="0">
                <a:latin typeface="Arial" panose="020B0604020202020204" pitchFamily="34" charset="0"/>
              </a:rPr>
              <a:t>loss</a:t>
            </a:r>
            <a:r>
              <a:rPr lang="en-US" dirty="0">
                <a:latin typeface="Arial" panose="020B0604020202020204" pitchFamily="34" charset="0"/>
              </a:rPr>
              <a:t>, and </a:t>
            </a:r>
            <a:r>
              <a:rPr lang="en-US" b="1" dirty="0">
                <a:latin typeface="Arial" panose="020B0604020202020204" pitchFamily="34" charset="0"/>
              </a:rPr>
              <a:t>buyer-wise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</a:rPr>
              <a:t>performance</a:t>
            </a:r>
            <a:r>
              <a:rPr lang="en-US" dirty="0">
                <a:latin typeface="Arial" panose="020B0604020202020204" pitchFamily="34" charset="0"/>
              </a:rPr>
              <a:t> summaries.</a:t>
            </a:r>
            <a:endParaRPr lang="en-I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995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60AC-E4BF-3F69-68C8-26F11CA8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F5C32D-DCEE-9B0F-5C68-9682BEEC3F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 b="26604"/>
          <a:stretch/>
        </p:blipFill>
        <p:spPr>
          <a:xfrm>
            <a:off x="10207687" y="6315429"/>
            <a:ext cx="1824364" cy="5022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FF371B4-92BB-D2D7-7086-5E5CCAC80530}"/>
              </a:ext>
            </a:extLst>
          </p:cNvPr>
          <p:cNvSpPr/>
          <p:nvPr/>
        </p:nvSpPr>
        <p:spPr>
          <a:xfrm>
            <a:off x="2783840" y="121920"/>
            <a:ext cx="6624320" cy="5283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150000"/>
              </a:lnSpc>
            </a:pPr>
            <a:r>
              <a:rPr lang="en-US" sz="2800" b="1" dirty="0"/>
              <a:t>KEY PERFORMING INDICATORS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23CBDF-74DD-1D43-AD36-DB33D469524F}"/>
              </a:ext>
            </a:extLst>
          </p:cNvPr>
          <p:cNvSpPr txBox="1"/>
          <p:nvPr/>
        </p:nvSpPr>
        <p:spPr>
          <a:xfrm>
            <a:off x="1201491" y="6801043"/>
            <a:ext cx="10830560" cy="407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F08FC8-BFE4-0AE9-07C4-19A44F7B1BDA}"/>
              </a:ext>
            </a:extLst>
          </p:cNvPr>
          <p:cNvSpPr txBox="1"/>
          <p:nvPr/>
        </p:nvSpPr>
        <p:spPr>
          <a:xfrm>
            <a:off x="972568" y="1135854"/>
            <a:ext cx="10147301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Manufacture Qty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Rejected Qty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Processed Qty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Wastage Qty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Employee Wise Rejected Qty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Machine Wise Rejected Qty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Production Comparison trend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Manufacture Vs Rejected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Department Wise Manufacture Vs Rejected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 Emp Wise Rejected Qty</a:t>
            </a:r>
          </a:p>
        </p:txBody>
      </p:sp>
    </p:spTree>
    <p:extLst>
      <p:ext uri="{BB962C8B-B14F-4D97-AF65-F5344CB8AC3E}">
        <p14:creationId xmlns:p14="http://schemas.microsoft.com/office/powerpoint/2010/main" val="184718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328D-B2B9-6950-7CE0-98BF5E2E3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051F5C-D677-C496-5D7F-B09EAEE07E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 b="26604"/>
          <a:stretch/>
        </p:blipFill>
        <p:spPr>
          <a:xfrm>
            <a:off x="10207687" y="6315429"/>
            <a:ext cx="1824364" cy="5022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EF11FF0-E4E8-3B52-BC1D-E2BBD1F7E6D4}"/>
              </a:ext>
            </a:extLst>
          </p:cNvPr>
          <p:cNvSpPr/>
          <p:nvPr/>
        </p:nvSpPr>
        <p:spPr>
          <a:xfrm>
            <a:off x="2783840" y="121920"/>
            <a:ext cx="6624320" cy="5283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150000"/>
              </a:lnSpc>
            </a:pPr>
            <a:r>
              <a:rPr lang="en-IN" sz="2800" b="1" dirty="0"/>
              <a:t>EVALUATION CRITERIA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F51ED-C905-38F3-15D6-833D571400EF}"/>
              </a:ext>
            </a:extLst>
          </p:cNvPr>
          <p:cNvSpPr txBox="1"/>
          <p:nvPr/>
        </p:nvSpPr>
        <p:spPr>
          <a:xfrm>
            <a:off x="1117600" y="984443"/>
            <a:ext cx="9242487" cy="5101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Your project presentation will be evaluated based on the following four key performance factors: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 Technical Skills</a:t>
            </a:r>
            <a:endParaRPr lang="en-US" sz="24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 Collaboration with Teammates</a:t>
            </a:r>
            <a:endParaRPr lang="en-US" sz="24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 Communication</a:t>
            </a:r>
            <a:endParaRPr lang="en-US" sz="2400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2400" b="1" dirty="0"/>
              <a:t> Planning and Execution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Please ensure your presentation reflects these factors for a well-rounded evaluation.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sz="2800" dirty="0"/>
              <a:t> 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04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5347D-BBC0-C107-6B5C-97F206A26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0B8889-EE7B-7BE8-855D-F848FB9851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65" b="26604"/>
          <a:stretch/>
        </p:blipFill>
        <p:spPr>
          <a:xfrm>
            <a:off x="10207687" y="6315429"/>
            <a:ext cx="1824364" cy="5022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BA5CF7-DEE4-B84F-D1B6-D0171FF7875E}"/>
              </a:ext>
            </a:extLst>
          </p:cNvPr>
          <p:cNvSpPr/>
          <p:nvPr/>
        </p:nvSpPr>
        <p:spPr>
          <a:xfrm>
            <a:off x="-1336040" y="2261281"/>
            <a:ext cx="14864080" cy="1889760"/>
          </a:xfrm>
          <a:prstGeom prst="rect">
            <a:avLst/>
          </a:prstGeom>
          <a:solidFill>
            <a:schemeClr val="accent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>
                <a:solidFill>
                  <a:schemeClr val="tx2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5496518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206</TotalTime>
  <Words>353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Wingdings</vt:lpstr>
      <vt:lpstr>Gallery</vt:lpstr>
      <vt:lpstr>MANUFACTURING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Excelr Solutuons</dc:creator>
  <cp:lastModifiedBy>Excelr Edtech</cp:lastModifiedBy>
  <cp:revision>18</cp:revision>
  <dcterms:created xsi:type="dcterms:W3CDTF">2024-11-22T04:33:07Z</dcterms:created>
  <dcterms:modified xsi:type="dcterms:W3CDTF">2025-10-13T16:37:52Z</dcterms:modified>
</cp:coreProperties>
</file>